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  <p:sldId id="267" r:id="rId11"/>
  </p:sldIdLst>
  <p:sldSz cx="12192000" cy="6858000"/>
  <p:notesSz cx="6858000" cy="12192000"/>
  <p:embeddedFontLst>
    <p:embeddedFont>
      <p:font typeface="Funnel Display" panose="020B0604020202020204" charset="0"/>
      <p:regular r:id="rId13"/>
    </p:embeddedFont>
    <p:embeddedFont>
      <p:font typeface="Funnel Sans" panose="020B0604020202020204" charset="0"/>
      <p:regular r:id="rId14"/>
    </p:embeddedFont>
    <p:embeddedFont>
      <p:font typeface="Funnel Sans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365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>
              <a:alpha val="50000"/>
            </a:srgbClr>
          </a:solidFill>
          <a:ln/>
        </p:spPr>
      </p:sp>
      <p:pic>
        <p:nvPicPr>
          <p:cNvPr id="6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5629" y="665064"/>
            <a:ext cx="4372461" cy="5830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1463477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31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Learning Analytics Platform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698086" y="2349302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Web-Based System for Tracking and Analyzing Student Learning Progress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644" y="4998106"/>
            <a:ext cx="3012504" cy="110212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48309" y="5061248"/>
            <a:ext cx="273688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kern="0" spc="-31" dirty="0">
                <a:solidFill>
                  <a:srgbClr val="2B3541"/>
                </a:solidFill>
                <a:latin typeface="Funnel Display" pitchFamily="34" charset="0"/>
              </a:rPr>
              <a:t>Group Members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948309" y="5354539"/>
            <a:ext cx="2736881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24CE082-Jenil Patel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B3541"/>
                </a:solidFill>
                <a:latin typeface="Funnel Sans" pitchFamily="34" charset="0"/>
              </a:rPr>
              <a:t>24CE085-Krish Patel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4184744" y="3212009"/>
            <a:ext cx="273698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4184744" y="3624957"/>
            <a:ext cx="273698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948309" y="4662289"/>
            <a:ext cx="597341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4" name="Text 1"/>
          <p:cNvSpPr/>
          <p:nvPr/>
        </p:nvSpPr>
        <p:spPr>
          <a:xfrm>
            <a:off x="698086" y="895152"/>
            <a:ext cx="6223638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kern="0" spc="-22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Introduction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698086" y="1452265"/>
            <a:ext cx="6223638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0" spc="-22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Learning Analytics Platform is a web-based system that collects and analyzes student learning information across the full academic cycle.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98086" y="1941810"/>
            <a:ext cx="6223638" cy="745728"/>
          </a:xfrm>
          <a:prstGeom prst="roundRect">
            <a:avLst>
              <a:gd name="adj" fmla="val 7864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4033" y="2087761"/>
            <a:ext cx="593174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22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Course &amp; Topic Completion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44033" y="2351782"/>
            <a:ext cx="5931744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0" spc="-22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Track which topics students have studied and completed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98086" y="2785269"/>
            <a:ext cx="6223638" cy="745728"/>
          </a:xfrm>
          <a:prstGeom prst="roundRect">
            <a:avLst>
              <a:gd name="adj" fmla="val 7864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4033" y="2931220"/>
            <a:ext cx="593174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22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Quiz &amp; Assignment Scores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44033" y="3195241"/>
            <a:ext cx="5931744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0" spc="-22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Centralized record of all performance data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98086" y="3628727"/>
            <a:ext cx="6223638" cy="745728"/>
          </a:xfrm>
          <a:prstGeom prst="roundRect">
            <a:avLst>
              <a:gd name="adj" fmla="val 7864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4033" y="3774678"/>
            <a:ext cx="593174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22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Activity Tracking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44033" y="4038699"/>
            <a:ext cx="5931744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0" spc="-22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Log every learning action automatically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98086" y="4472186"/>
            <a:ext cx="6223638" cy="745728"/>
          </a:xfrm>
          <a:prstGeom prst="roundRect">
            <a:avLst>
              <a:gd name="adj" fmla="val 7864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4033" y="4618137"/>
            <a:ext cx="593174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22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Progress Metrics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44033" y="4882158"/>
            <a:ext cx="5931744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kern="0" spc="-22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Overall and topic-wise progress at a glance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148655"/>
            <a:ext cx="10795524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kern="0" spc="-27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Problem Statement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306" y="2294731"/>
            <a:ext cx="2983136" cy="29832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27546" y="2007493"/>
            <a:ext cx="6872314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27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The Core Problem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4627546" y="2400895"/>
            <a:ext cx="7481899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Student learning data is fragmented and difficult to act on: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627546" y="2781498"/>
            <a:ext cx="6872314" cy="175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Learning data is </a:t>
            </a:r>
            <a:r>
              <a:rPr lang="en-US" sz="1300" b="1" kern="0" spc="-27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scattered across multiple platforms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Students cannot easily track their overall progress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Teachers must </a:t>
            </a:r>
            <a:r>
              <a:rPr lang="en-US" sz="1300" b="1" kern="0" spc="-27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manually check</a:t>
            </a:r>
            <a:r>
              <a:rPr lang="en-US" sz="130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individual student performance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Weak topics are difficult to identify systematically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Quiz and assignment scores are not centralized</a:t>
            </a:r>
            <a:endParaRPr lang="en-US" sz="1300" dirty="0"/>
          </a:p>
          <a:p>
            <a:pPr marL="264160" indent="-264160" algn="l">
              <a:lnSpc>
                <a:spcPct val="123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Manual analysis and report generation is </a:t>
            </a:r>
            <a:r>
              <a:rPr lang="en-US" sz="1300" b="1" kern="0" spc="-27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time-consuming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27546" y="4701183"/>
            <a:ext cx="6872314" cy="845939"/>
          </a:xfrm>
          <a:prstGeom prst="roundRect">
            <a:avLst>
              <a:gd name="adj" fmla="val 8418"/>
            </a:avLst>
          </a:prstGeom>
          <a:solidFill>
            <a:srgbClr val="D8E7F3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7007" y="4923433"/>
            <a:ext cx="211926" cy="16946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78395" y="4873228"/>
            <a:ext cx="6152004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b="1" kern="0" spc="-27" dirty="0">
                <a:solidFill>
                  <a:srgbClr val="000000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Solution Required:</a:t>
            </a:r>
            <a:r>
              <a:rPr lang="en-US" sz="1300" kern="0" spc="-27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 centralized platform to collect, manage, analyze, and visualize student learning data in one place.</a:t>
            </a:r>
            <a:endParaRPr lang="en-US" sz="1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26F168C-DA1E-3445-6EA8-43F92596D0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627" y="6459106"/>
            <a:ext cx="1539373" cy="3988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99728"/>
            <a:ext cx="10795524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kern="0" spc="-27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Proposed Solution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98086" y="1786632"/>
            <a:ext cx="11405108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single, unified platform for both learning management and learning analytics — end to end.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199680"/>
            <a:ext cx="3598475" cy="678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7547" y="3021905"/>
            <a:ext cx="3259552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Create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67547" y="3357662"/>
            <a:ext cx="3259552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Teacher creates course, topics, materials, quizzes &amp; assignments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6560" y="2199680"/>
            <a:ext cx="3598475" cy="678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66022" y="3021905"/>
            <a:ext cx="3259552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Learn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4466022" y="3357662"/>
            <a:ext cx="3259552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Students study materials and complete all activities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5035" y="2199680"/>
            <a:ext cx="3598475" cy="6781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64497" y="3021905"/>
            <a:ext cx="3259552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Collect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8064497" y="3357662"/>
            <a:ext cx="3259552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System automatically stores all activity and performance data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086" y="4028976"/>
            <a:ext cx="3598475" cy="6781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7547" y="4851202"/>
            <a:ext cx="3259552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Analyze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867547" y="5186958"/>
            <a:ext cx="3259552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Rule-based analytics process the data with predefined formulas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6560" y="4028976"/>
            <a:ext cx="3598475" cy="6781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466022" y="4851202"/>
            <a:ext cx="3259552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27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Visualize</a:t>
            </a:r>
            <a:endParaRPr lang="en-US" sz="1550" dirty="0"/>
          </a:p>
        </p:txBody>
      </p:sp>
      <p:sp>
        <p:nvSpPr>
          <p:cNvPr id="18" name="Text 11"/>
          <p:cNvSpPr/>
          <p:nvPr/>
        </p:nvSpPr>
        <p:spPr>
          <a:xfrm>
            <a:off x="4466022" y="5186958"/>
            <a:ext cx="3259552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kern="0" spc="-27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Dashboards display clear insights to students and teachers</a:t>
            </a: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8CFD1A8-271D-B570-0EBC-9E4F0AA257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63821" y="6498221"/>
            <a:ext cx="1539373" cy="3551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67594"/>
            <a:ext cx="10795524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2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Project Objectives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689" y="2405063"/>
            <a:ext cx="2655920" cy="265598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10580" y="1802110"/>
            <a:ext cx="336542" cy="336550"/>
          </a:xfrm>
          <a:prstGeom prst="roundRect">
            <a:avLst>
              <a:gd name="adj" fmla="val 18671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673285" y="1838375"/>
            <a:ext cx="211132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5059236" y="1853505"/>
            <a:ext cx="644062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Track Progress in Real-Time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059236" y="2185591"/>
            <a:ext cx="6440624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Monitor student learning activity as it happens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10580" y="2619375"/>
            <a:ext cx="336542" cy="336550"/>
          </a:xfrm>
          <a:prstGeom prst="roundRect">
            <a:avLst>
              <a:gd name="adj" fmla="val 18671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73285" y="2655639"/>
            <a:ext cx="211132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5059236" y="2670770"/>
            <a:ext cx="644062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Manage Courses &amp; Materials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059236" y="3002855"/>
            <a:ext cx="6440624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Organize topics, PDFs, quizzes, and assignments in one place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610580" y="3436640"/>
            <a:ext cx="336542" cy="336550"/>
          </a:xfrm>
          <a:prstGeom prst="roundRect">
            <a:avLst>
              <a:gd name="adj" fmla="val 18671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73285" y="3472904"/>
            <a:ext cx="211132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5059236" y="3488035"/>
            <a:ext cx="644062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Rule-Based Performance Analysis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059236" y="3820120"/>
            <a:ext cx="6440624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Analyze scores using predefined thresholds 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610580" y="4253905"/>
            <a:ext cx="336542" cy="336550"/>
          </a:xfrm>
          <a:prstGeom prst="roundRect">
            <a:avLst>
              <a:gd name="adj" fmla="val 18671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73285" y="4290169"/>
            <a:ext cx="211132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4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5059236" y="4305300"/>
            <a:ext cx="644062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Identify Weak &amp; Strong Topics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059236" y="4637385"/>
            <a:ext cx="6440624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Automatically flag areas needing improvement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610580" y="5071170"/>
            <a:ext cx="336542" cy="336550"/>
          </a:xfrm>
          <a:prstGeom prst="roundRect">
            <a:avLst>
              <a:gd name="adj" fmla="val 18671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73285" y="5107434"/>
            <a:ext cx="211132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5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5059236" y="5122565"/>
            <a:ext cx="644062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Enable Data-Driven Decisions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5059236" y="5454650"/>
            <a:ext cx="6440624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kern="0" spc="-24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Empower both students and teachers with actionable insights</a:t>
            </a:r>
            <a:endParaRPr lang="en-US" sz="11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4DCACE5-02E0-EA18-B8EA-597A6FBEB1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448" y="6393792"/>
            <a:ext cx="1539373" cy="4642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252240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31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Users &amp; Main Modules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2237879"/>
            <a:ext cx="498661" cy="498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2985889"/>
            <a:ext cx="3432288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1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👨‍🎓</a:t>
            </a:r>
            <a:r>
              <a:rPr lang="en-US" sz="1800" kern="0" spc="-31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Student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8086" y="3411538"/>
            <a:ext cx="3432288" cy="2194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Access courses and topics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Study learning materials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Attempt quizzes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Submit assignments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View personal progress and performance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9704" y="2237879"/>
            <a:ext cx="498661" cy="4986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79704" y="2985889"/>
            <a:ext cx="3432288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1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👨‍🏫</a:t>
            </a:r>
            <a:r>
              <a:rPr lang="en-US" sz="1800" kern="0" spc="-31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Teacher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379704" y="3411538"/>
            <a:ext cx="3432288" cy="1485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Create and manage courses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Add topics and learning materials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Create quizzes and assignments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View student performance analytics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1322" y="2237879"/>
            <a:ext cx="498661" cy="4986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1322" y="2985889"/>
            <a:ext cx="3432288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1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👨‍💼</a:t>
            </a:r>
            <a:r>
              <a:rPr lang="en-US" sz="1800" kern="0" spc="-31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Admin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061322" y="3411538"/>
            <a:ext cx="3432288" cy="1027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Manage user accounts</a:t>
            </a:r>
            <a:endParaRPr lang="en-US" sz="1550" dirty="0"/>
          </a:p>
          <a:p>
            <a:pPr marL="314960" indent="-314960" algn="l">
              <a:lnSpc>
                <a:spcPct val="133000"/>
              </a:lnSpc>
              <a:buSzPct val="100000"/>
              <a:buChar char="•"/>
            </a:pPr>
            <a:r>
              <a:rPr lang="en-US" sz="1550" kern="0" spc="-3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Manage courses and system settings</a:t>
            </a:r>
            <a:endParaRPr lang="en-US" sz="15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1F40C20-0A8C-A1F8-B8E2-DEBE99C3D8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2627" y="6391966"/>
            <a:ext cx="1539373" cy="4362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5944"/>
            <a:ext cx="10795524" cy="577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kern="0" spc="-31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System Workflow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20" y="1530052"/>
            <a:ext cx="10449755" cy="39213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14221" y="4508378"/>
            <a:ext cx="1576134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kern="0" spc="-53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Store Data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327860" y="4508378"/>
            <a:ext cx="1576134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kern="0" spc="-53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Student Activity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352294" y="4365673"/>
            <a:ext cx="1576134" cy="57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kern="0" spc="-53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Configure Assessments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376729" y="4365673"/>
            <a:ext cx="1576134" cy="57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kern="0" spc="-53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Upload Materials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57981" y="4508378"/>
            <a:ext cx="1576134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kern="0" spc="-53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Create Course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98086" y="5668764"/>
            <a:ext cx="10795524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endParaRPr lang="en-US" sz="15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3A31B8-44FD-31AC-1DE1-6DD1AA845E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627" y="6524421"/>
            <a:ext cx="1539373" cy="3335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12391"/>
            <a:ext cx="10795524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2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Learning Analytics Calculations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98086" y="1376759"/>
            <a:ext cx="11405108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98086" y="1824534"/>
            <a:ext cx="5215303" cy="226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👨‍🎓</a:t>
            </a:r>
            <a:r>
              <a:rPr lang="en-US" sz="1350" kern="0" spc="-2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Student Analytics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143" y="2181721"/>
            <a:ext cx="224328" cy="2243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4146" y="2177058"/>
            <a:ext cx="472924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Overall Course Progress %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143" y="2859484"/>
            <a:ext cx="224328" cy="2243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4146" y="2854821"/>
            <a:ext cx="472924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Topic-Wise Progress Tracking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143" y="3537248"/>
            <a:ext cx="224328" cy="22433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4146" y="3532584"/>
            <a:ext cx="472924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Quiz Average Scores</a:t>
            </a:r>
            <a:endParaRPr lang="en-US" sz="13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143" y="4215011"/>
            <a:ext cx="224328" cy="22433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84146" y="4210348"/>
            <a:ext cx="472924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Assignment Performance Metrics</a:t>
            </a:r>
            <a:endParaRPr lang="en-US" sz="13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143" y="4892774"/>
            <a:ext cx="224328" cy="22433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84146" y="4888111"/>
            <a:ext cx="472924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16" name="Text 8"/>
          <p:cNvSpPr/>
          <p:nvPr/>
        </p:nvSpPr>
        <p:spPr>
          <a:xfrm>
            <a:off x="1118831" y="4888111"/>
            <a:ext cx="472924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Strong &amp; Weak Topic Identification</a:t>
            </a:r>
            <a:endParaRPr lang="en-US" sz="1350" dirty="0"/>
          </a:p>
        </p:txBody>
      </p:sp>
      <p:sp>
        <p:nvSpPr>
          <p:cNvPr id="17" name="Text 9"/>
          <p:cNvSpPr/>
          <p:nvPr/>
        </p:nvSpPr>
        <p:spPr>
          <a:xfrm>
            <a:off x="6284656" y="1824534"/>
            <a:ext cx="5215303" cy="226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👨‍🏫</a:t>
            </a:r>
            <a:r>
              <a:rPr lang="en-US" sz="1350" kern="0" spc="-24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Teacher Analytics</a:t>
            </a:r>
            <a:endParaRPr lang="en-US" sz="13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0713" y="2181721"/>
            <a:ext cx="224328" cy="224334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770717" y="2177058"/>
            <a:ext cx="472924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Class Average Performance</a:t>
            </a:r>
            <a:endParaRPr lang="en-US" sz="135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0713" y="2859484"/>
            <a:ext cx="224328" cy="224334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6770717" y="2854821"/>
            <a:ext cx="472924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Student-Wise Performance Comparison</a:t>
            </a:r>
            <a:endParaRPr lang="en-US" sz="135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0713" y="3537248"/>
            <a:ext cx="224328" cy="224334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6770717" y="3532584"/>
            <a:ext cx="472924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Topic-Wise Class Performance</a:t>
            </a:r>
            <a:endParaRPr lang="en-US" sz="135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0713" y="4215011"/>
            <a:ext cx="224328" cy="224334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6770717" y="4210348"/>
            <a:ext cx="472924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4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Quiz &amp; Assignment Completion Rates</a:t>
            </a:r>
            <a:endParaRPr lang="en-US" sz="13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476748A-B343-DD53-5194-D4B2CA6E6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627" y="6438123"/>
            <a:ext cx="1539373" cy="3536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579" y="487363"/>
            <a:ext cx="4412346" cy="58832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829072"/>
            <a:ext cx="6223638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kern="0" spc="-25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Dashboards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698086" y="1617563"/>
            <a:ext cx="2917157" cy="241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25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👨‍🎓</a:t>
            </a:r>
            <a:r>
              <a:rPr lang="en-US" sz="1450" kern="0" spc="-25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Student Dashboard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98086" y="1986161"/>
            <a:ext cx="2917157" cy="1601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0000"/>
              </a:lnSpc>
              <a:buSzPct val="100000"/>
              <a:buChar char="•"/>
            </a:pPr>
            <a:r>
              <a:rPr lang="en-US" sz="1250" kern="0" spc="-25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Overall course progress (progress bar)</a:t>
            </a:r>
            <a:endParaRPr lang="en-US" sz="1250" dirty="0"/>
          </a:p>
          <a:p>
            <a:pPr marL="254000" indent="-254000" algn="l">
              <a:lnSpc>
                <a:spcPct val="120000"/>
              </a:lnSpc>
              <a:buSzPct val="100000"/>
              <a:buChar char="•"/>
            </a:pPr>
            <a:r>
              <a:rPr lang="en-US" sz="1250" kern="0" spc="-25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Average score across all topics</a:t>
            </a:r>
            <a:endParaRPr lang="en-US" sz="1250" dirty="0"/>
          </a:p>
          <a:p>
            <a:pPr marL="254000" indent="-254000" algn="l">
              <a:lnSpc>
                <a:spcPct val="120000"/>
              </a:lnSpc>
              <a:buSzPct val="100000"/>
              <a:buChar char="•"/>
            </a:pPr>
            <a:r>
              <a:rPr lang="en-US" sz="1250" kern="0" spc="-25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Topic-wise performance (bar chart)</a:t>
            </a:r>
            <a:endParaRPr lang="en-US" sz="1250" dirty="0"/>
          </a:p>
          <a:p>
            <a:pPr marL="254000" indent="-254000" algn="l">
              <a:lnSpc>
                <a:spcPct val="120000"/>
              </a:lnSpc>
              <a:buSzPct val="100000"/>
              <a:buChar char="•"/>
            </a:pPr>
            <a:r>
              <a:rPr lang="en-US" sz="1250" kern="0" spc="-25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Quiz and assignment status</a:t>
            </a:r>
            <a:endParaRPr lang="en-US" sz="1250" dirty="0"/>
          </a:p>
          <a:p>
            <a:pPr marL="254000" indent="-254000" algn="l">
              <a:lnSpc>
                <a:spcPct val="120000"/>
              </a:lnSpc>
              <a:buSzPct val="100000"/>
              <a:buChar char="•"/>
            </a:pPr>
            <a:r>
              <a:rPr lang="en-US" sz="1250" kern="0" spc="-25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Weak topics with recommendations</a:t>
            </a:r>
            <a:endParaRPr lang="en-US" sz="1250" dirty="0"/>
          </a:p>
          <a:p>
            <a:pPr marL="254000" indent="-254000" algn="l">
              <a:lnSpc>
                <a:spcPct val="120000"/>
              </a:lnSpc>
              <a:buSzPct val="100000"/>
              <a:buChar char="•"/>
            </a:pPr>
            <a:r>
              <a:rPr lang="en-US" sz="1250" kern="0" spc="-25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Learning activity timeline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010917" y="1617563"/>
            <a:ext cx="2917157" cy="241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25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👨‍🏫</a:t>
            </a:r>
            <a:r>
              <a:rPr lang="en-US" sz="1450" kern="0" spc="-25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Teacher Dashboard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010917" y="1986161"/>
            <a:ext cx="2917157" cy="1601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0000"/>
              </a:lnSpc>
              <a:buSzPct val="100000"/>
              <a:buChar char="•"/>
            </a:pPr>
            <a:r>
              <a:rPr lang="en-US" sz="1250" kern="0" spc="-25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Class average and distribution</a:t>
            </a:r>
            <a:endParaRPr lang="en-US" sz="1250" dirty="0"/>
          </a:p>
          <a:p>
            <a:pPr marL="254000" indent="-254000" algn="l">
              <a:lnSpc>
                <a:spcPct val="120000"/>
              </a:lnSpc>
              <a:buSzPct val="100000"/>
              <a:buChar char="•"/>
            </a:pPr>
            <a:r>
              <a:rPr lang="en-US" sz="1250" kern="0" spc="-25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Student performance comparison</a:t>
            </a:r>
            <a:endParaRPr lang="en-US" sz="1250" dirty="0"/>
          </a:p>
          <a:p>
            <a:pPr marL="254000" indent="-254000" algn="l">
              <a:lnSpc>
                <a:spcPct val="120000"/>
              </a:lnSpc>
              <a:buSzPct val="100000"/>
              <a:buChar char="•"/>
            </a:pPr>
            <a:r>
              <a:rPr lang="en-US" sz="1250" kern="0" spc="-25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Topic-wise class performance</a:t>
            </a:r>
            <a:endParaRPr lang="en-US" sz="1250" dirty="0"/>
          </a:p>
          <a:p>
            <a:pPr marL="254000" indent="-254000" algn="l">
              <a:lnSpc>
                <a:spcPct val="120000"/>
              </a:lnSpc>
              <a:buSzPct val="100000"/>
              <a:buChar char="•"/>
            </a:pPr>
            <a:r>
              <a:rPr lang="en-US" sz="1250" kern="0" spc="-25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Quiz and assignment statistics</a:t>
            </a:r>
            <a:endParaRPr lang="en-US" sz="1250" dirty="0"/>
          </a:p>
          <a:p>
            <a:pPr marL="254000" indent="-254000" algn="l">
              <a:lnSpc>
                <a:spcPct val="120000"/>
              </a:lnSpc>
              <a:buSzPct val="100000"/>
              <a:buChar char="•"/>
            </a:pPr>
            <a:r>
              <a:rPr lang="en-US" sz="1250" kern="0" spc="-25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Weak topics across the class</a:t>
            </a:r>
            <a:endParaRPr lang="en-US" sz="1250" dirty="0"/>
          </a:p>
          <a:p>
            <a:pPr marL="254000" indent="-254000" algn="l">
              <a:lnSpc>
                <a:spcPct val="120000"/>
              </a:lnSpc>
              <a:buSzPct val="100000"/>
              <a:buChar char="•"/>
            </a:pPr>
            <a:r>
              <a:rPr lang="en-US" sz="1250" kern="0" spc="-25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Downloadable performance reports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04436" y="3782120"/>
            <a:ext cx="6210938" cy="560090"/>
          </a:xfrm>
          <a:custGeom>
            <a:avLst/>
            <a:gdLst/>
            <a:ahLst/>
            <a:cxnLst/>
            <a:rect l="l" t="t" r="r" b="b"/>
            <a:pathLst>
              <a:path w="6210938" h="560090">
                <a:moveTo>
                  <a:pt x="55854" y="0"/>
                </a:moveTo>
                <a:lnTo>
                  <a:pt x="6155084" y="0"/>
                </a:lnTo>
                <a:arcTo wR="55854" hR="55856" stAng="16200000" swAng="5400000"/>
                <a:lnTo>
                  <a:pt x="6210938" y="560090"/>
                </a:lnTo>
                <a:lnTo>
                  <a:pt x="0" y="560090"/>
                </a:lnTo>
                <a:lnTo>
                  <a:pt x="0" y="55856"/>
                </a:lnTo>
                <a:arcTo wR="55854" hR="55856" stAng="10800000" swAng="5400000"/>
                <a:close/>
              </a:path>
            </a:pathLst>
          </a:custGeom>
          <a:solidFill>
            <a:srgbClr val="FAF5EB"/>
          </a:solidFill>
          <a:ln/>
        </p:spPr>
      </p:sp>
      <p:sp>
        <p:nvSpPr>
          <p:cNvPr id="11" name="Text 8"/>
          <p:cNvSpPr/>
          <p:nvPr/>
        </p:nvSpPr>
        <p:spPr>
          <a:xfrm>
            <a:off x="863975" y="3941663"/>
            <a:ext cx="5891859" cy="241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25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📊</a:t>
            </a:r>
            <a:r>
              <a:rPr lang="en-US" sz="1450" kern="0" spc="-25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Progress Bars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704436" y="4342209"/>
            <a:ext cx="6210938" cy="56009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13" name="Shape 10"/>
          <p:cNvSpPr/>
          <p:nvPr/>
        </p:nvSpPr>
        <p:spPr>
          <a:xfrm>
            <a:off x="704436" y="4342209"/>
            <a:ext cx="6210938" cy="19050"/>
          </a:xfrm>
          <a:prstGeom prst="roundRect">
            <a:avLst>
              <a:gd name="adj" fmla="val 49999"/>
            </a:avLst>
          </a:prstGeom>
          <a:solidFill>
            <a:srgbClr val="D5CDBE"/>
          </a:solidFill>
          <a:ln/>
        </p:spPr>
      </p:sp>
      <p:sp>
        <p:nvSpPr>
          <p:cNvPr id="14" name="Text 11"/>
          <p:cNvSpPr/>
          <p:nvPr/>
        </p:nvSpPr>
        <p:spPr>
          <a:xfrm>
            <a:off x="863975" y="4501753"/>
            <a:ext cx="5891859" cy="241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25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📈</a:t>
            </a:r>
            <a:r>
              <a:rPr lang="en-US" sz="1450" kern="0" spc="-25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Bar &amp; Pie Charts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704436" y="4902299"/>
            <a:ext cx="6210938" cy="19050"/>
          </a:xfrm>
          <a:prstGeom prst="roundRect">
            <a:avLst>
              <a:gd name="adj" fmla="val 49999"/>
            </a:avLst>
          </a:prstGeom>
          <a:solidFill>
            <a:srgbClr val="D5CDBE"/>
          </a:solidFill>
          <a:ln/>
        </p:spPr>
      </p:sp>
      <p:sp>
        <p:nvSpPr>
          <p:cNvPr id="18" name="Shape 15"/>
          <p:cNvSpPr/>
          <p:nvPr/>
        </p:nvSpPr>
        <p:spPr>
          <a:xfrm>
            <a:off x="322800" y="5271613"/>
            <a:ext cx="6210938" cy="560090"/>
          </a:xfrm>
          <a:custGeom>
            <a:avLst/>
            <a:gdLst/>
            <a:ahLst/>
            <a:cxnLst/>
            <a:rect l="l" t="t" r="r" b="b"/>
            <a:pathLst>
              <a:path w="6210938" h="560090">
                <a:moveTo>
                  <a:pt x="0" y="0"/>
                </a:moveTo>
                <a:lnTo>
                  <a:pt x="6210938" y="0"/>
                </a:lnTo>
                <a:lnTo>
                  <a:pt x="6210938" y="504234"/>
                </a:lnTo>
                <a:arcTo wR="55854" hR="55856" stAng="0" swAng="5400000"/>
                <a:lnTo>
                  <a:pt x="55854" y="560090"/>
                </a:lnTo>
                <a:arcTo wR="55854" hR="55856" stAng="5400000" swAng="5400000"/>
                <a:lnTo>
                  <a:pt x="0" y="0"/>
                </a:lnTo>
                <a:close/>
              </a:path>
            </a:pathLst>
          </a:custGeom>
          <a:solidFill>
            <a:srgbClr val="FAF5EB"/>
          </a:solidFill>
          <a:ln/>
        </p:spPr>
      </p:sp>
      <p:sp>
        <p:nvSpPr>
          <p:cNvPr id="19" name="Shape 16"/>
          <p:cNvSpPr/>
          <p:nvPr/>
        </p:nvSpPr>
        <p:spPr>
          <a:xfrm>
            <a:off x="704436" y="5462389"/>
            <a:ext cx="6210938" cy="19050"/>
          </a:xfrm>
          <a:prstGeom prst="roundRect">
            <a:avLst>
              <a:gd name="adj" fmla="val 49999"/>
            </a:avLst>
          </a:prstGeom>
          <a:solidFill>
            <a:srgbClr val="D5CDBE"/>
          </a:solidFill>
          <a:ln/>
        </p:spPr>
      </p:sp>
      <p:sp>
        <p:nvSpPr>
          <p:cNvPr id="20" name="Text 17"/>
          <p:cNvSpPr/>
          <p:nvPr/>
        </p:nvSpPr>
        <p:spPr>
          <a:xfrm>
            <a:off x="863975" y="5112068"/>
            <a:ext cx="5891859" cy="241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25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📋</a:t>
            </a:r>
            <a:r>
              <a:rPr lang="en-US" sz="1450" kern="0" spc="-25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Performance Tables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348739-2AFF-1FBF-50AF-201FD6EA33B9}"/>
              </a:ext>
            </a:extLst>
          </p:cNvPr>
          <p:cNvSpPr txBox="1"/>
          <p:nvPr/>
        </p:nvSpPr>
        <p:spPr>
          <a:xfrm>
            <a:off x="4685934" y="3013501"/>
            <a:ext cx="32993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latin typeface="Funnel Display" panose="020B0604020202020204" charset="0"/>
              </a:rPr>
              <a:t>Thank You</a:t>
            </a:r>
            <a:endParaRPr lang="en-IN" sz="4800" b="1" dirty="0">
              <a:latin typeface="Funnel Display" panose="020B060402020202020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627207-FEA6-04E7-1114-36C0643B8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627" y="6475445"/>
            <a:ext cx="1539373" cy="368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180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472</Words>
  <Application>Microsoft Office PowerPoint</Application>
  <PresentationFormat>Widescreen</PresentationFormat>
  <Paragraphs>114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Funnel Sans</vt:lpstr>
      <vt:lpstr>Funnel Sans Bold</vt:lpstr>
      <vt:lpstr>Arial</vt:lpstr>
      <vt:lpstr>Funnel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KRISH PATEL</cp:lastModifiedBy>
  <cp:revision>5</cp:revision>
  <dcterms:created xsi:type="dcterms:W3CDTF">2026-08-10T16:39:49Z</dcterms:created>
  <dcterms:modified xsi:type="dcterms:W3CDTF">2026-08-21T04:24:42Z</dcterms:modified>
</cp:coreProperties>
</file>